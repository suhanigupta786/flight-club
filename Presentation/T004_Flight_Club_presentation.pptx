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0" r:id="rId20"/>
    <p:sldId id="269" r:id="rId1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5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21207"/>
            <a:ext cx="14813280" cy="7498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3600" b="0">
                <a:solidFill>
                  <a:srgbClr val="0F2344"/>
                </a:solidFill>
                <a:latin typeface="Aptos"/>
              </a:defRPr>
            </a:pPr>
            <a:r>
              <a:t>What the final AML models actually achieved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1335024"/>
            <a:ext cx="13716000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600" b="0">
                <a:solidFill>
                  <a:srgbClr val="49505A"/>
                </a:solidFill>
                <a:latin typeface="Aptos"/>
              </a:defRPr>
            </a:pPr>
            <a:r>
              <a:t>Final Task 7  •  53,991 unseen test flights  •  Operational precision constraint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828800"/>
            <a:ext cx="14859000" cy="15240"/>
          </a:xfrm>
          <a:prstGeom prst="rect">
            <a:avLst/>
          </a:prstGeom>
          <a:solidFill>
            <a:srgbClr val="0F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5486400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600" b="1">
                <a:solidFill>
                  <a:srgbClr val="0F2344"/>
                </a:solidFill>
                <a:latin typeface="Aptos"/>
              </a:defRPr>
            </a:pPr>
            <a:r>
              <a:t>TEST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103120"/>
            <a:ext cx="4572000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600" b="1">
                <a:solidFill>
                  <a:srgbClr val="0F2344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2103120"/>
            <a:ext cx="4572000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600" b="1">
                <a:solidFill>
                  <a:srgbClr val="0F2344"/>
                </a:solidFill>
                <a:latin typeface="Aptos"/>
              </a:defRPr>
            </a:pPr>
            <a:r>
              <a:t>XGBOOST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60320"/>
            <a:ext cx="14813280" cy="484632"/>
          </a:xfrm>
          <a:prstGeom prst="rect">
            <a:avLst/>
          </a:prstGeom>
          <a:solidFill>
            <a:srgbClr val="F2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50292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700" b="0">
                <a:solidFill>
                  <a:srgbClr val="0F2344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06040"/>
            <a:ext cx="28346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800" b="0">
                <a:solidFill>
                  <a:srgbClr val="49505A"/>
                </a:solidFill>
                <a:latin typeface="Aptos"/>
              </a:defRPr>
            </a:pPr>
            <a:r>
              <a:t>73.86%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2606040"/>
            <a:ext cx="292608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800" b="1">
                <a:solidFill>
                  <a:srgbClr val="0F2344"/>
                </a:solidFill>
                <a:latin typeface="Aptos"/>
              </a:defRPr>
            </a:pPr>
            <a:r>
              <a:t>73.51%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50292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700" b="0">
                <a:solidFill>
                  <a:srgbClr val="0F2344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54680"/>
            <a:ext cx="28346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800" b="0">
                <a:solidFill>
                  <a:srgbClr val="49505A"/>
                </a:solidFill>
                <a:latin typeface="Aptos"/>
              </a:defRPr>
            </a:pPr>
            <a:r>
              <a:t>41.21%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3154680"/>
            <a:ext cx="292608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800" b="1">
                <a:solidFill>
                  <a:srgbClr val="0F2344"/>
                </a:solidFill>
                <a:latin typeface="Aptos"/>
              </a:defRPr>
            </a:pPr>
            <a:r>
              <a:t>40.08%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657600"/>
            <a:ext cx="14813280" cy="484632"/>
          </a:xfrm>
          <a:prstGeom prst="rect">
            <a:avLst/>
          </a:prstGeom>
          <a:solidFill>
            <a:srgbClr val="F2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50292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700" b="0">
                <a:solidFill>
                  <a:srgbClr val="0F2344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703320"/>
            <a:ext cx="28346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800" b="0">
                <a:solidFill>
                  <a:srgbClr val="49505A"/>
                </a:solidFill>
                <a:latin typeface="Aptos"/>
              </a:defRPr>
            </a:pPr>
            <a:r>
              <a:t>10.78%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3703320"/>
            <a:ext cx="292608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800" b="1">
                <a:solidFill>
                  <a:srgbClr val="458FB8"/>
                </a:solidFill>
                <a:latin typeface="Aptos"/>
              </a:defRPr>
            </a:pPr>
            <a:r>
              <a:t>12.15%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51960"/>
            <a:ext cx="50292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700" b="0">
                <a:solidFill>
                  <a:srgbClr val="0F2344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251960"/>
            <a:ext cx="28346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800" b="0">
                <a:solidFill>
                  <a:srgbClr val="49505A"/>
                </a:solidFill>
                <a:latin typeface="Aptos"/>
              </a:defRPr>
            </a:pPr>
            <a:r>
              <a:t>17.09%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4251960"/>
            <a:ext cx="292608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800" b="1">
                <a:solidFill>
                  <a:srgbClr val="458FB8"/>
                </a:solidFill>
                <a:latin typeface="Aptos"/>
              </a:defRPr>
            </a:pPr>
            <a:r>
              <a:t>18.65%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754880"/>
            <a:ext cx="14813280" cy="484632"/>
          </a:xfrm>
          <a:prstGeom prst="rect">
            <a:avLst/>
          </a:prstGeom>
          <a:solidFill>
            <a:srgbClr val="F2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800600"/>
            <a:ext cx="50292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700" b="0">
                <a:solidFill>
                  <a:srgbClr val="0F2344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800600"/>
            <a:ext cx="28346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800" b="0">
                <a:solidFill>
                  <a:srgbClr val="49505A"/>
                </a:solidFill>
                <a:latin typeface="Aptos"/>
              </a:defRPr>
            </a:pPr>
            <a:r>
              <a:t>0.6187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4800600"/>
            <a:ext cx="292608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800" b="1">
                <a:solidFill>
                  <a:srgbClr val="458FB8"/>
                </a:solidFill>
                <a:latin typeface="Aptos"/>
              </a:defRPr>
            </a:pPr>
            <a:r>
              <a:t>0.6392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49240"/>
            <a:ext cx="50292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700" b="0">
                <a:solidFill>
                  <a:srgbClr val="0F2344"/>
                </a:solidFill>
                <a:latin typeface="Aptos"/>
              </a:defRPr>
            </a:pPr>
            <a:r>
              <a:t>PR-AUC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349240"/>
            <a:ext cx="28346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800" b="0">
                <a:solidFill>
                  <a:srgbClr val="49505A"/>
                </a:solidFill>
                <a:latin typeface="Aptos"/>
              </a:defRPr>
            </a:pPr>
            <a:r>
              <a:t>0.3387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5349240"/>
            <a:ext cx="292608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800" b="1">
                <a:solidFill>
                  <a:srgbClr val="458FB8"/>
                </a:solidFill>
                <a:latin typeface="Aptos"/>
              </a:defRPr>
            </a:pPr>
            <a:r>
              <a:t>0.3553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852159"/>
            <a:ext cx="14813280" cy="484632"/>
          </a:xfrm>
          <a:prstGeom prst="rect">
            <a:avLst/>
          </a:prstGeom>
          <a:solidFill>
            <a:srgbClr val="F2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897879"/>
            <a:ext cx="50292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700" b="0">
                <a:solidFill>
                  <a:srgbClr val="0F2344"/>
                </a:solidFill>
                <a:latin typeface="Aptos"/>
              </a:defRPr>
            </a:pPr>
            <a:r>
              <a:t>Brier score 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897879"/>
            <a:ext cx="28346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800" b="0">
                <a:solidFill>
                  <a:srgbClr val="49505A"/>
                </a:solidFill>
                <a:latin typeface="Aptos"/>
              </a:defRPr>
            </a:pPr>
            <a:r>
              <a:t>0.1942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5897879"/>
            <a:ext cx="292608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800" b="1">
                <a:solidFill>
                  <a:srgbClr val="458FB8"/>
                </a:solidFill>
                <a:latin typeface="Aptos"/>
              </a:defRPr>
            </a:pPr>
            <a:r>
              <a:t>0.1919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6537960"/>
            <a:ext cx="14813280" cy="12700"/>
          </a:xfrm>
          <a:prstGeom prst="rect">
            <a:avLst/>
          </a:prstGeom>
          <a:solidFill>
            <a:srgbClr val="E1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6793992"/>
            <a:ext cx="4663440" cy="265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200" b="1">
                <a:solidFill>
                  <a:srgbClr val="0F2344"/>
                </a:solidFill>
                <a:latin typeface="Aptos"/>
              </a:defRPr>
            </a:pPr>
            <a:r>
              <a:t>ACCURACY IS NOT ENOUGH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7150608"/>
            <a:ext cx="4663440" cy="521207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2800" b="1">
                <a:solidFill>
                  <a:srgbClr val="0F2344"/>
                </a:solidFill>
                <a:latin typeface="Aptos"/>
              </a:defRPr>
            </a:pPr>
            <a:r>
              <a:t>73.51%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7754112"/>
            <a:ext cx="4663440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400" b="0">
                <a:solidFill>
                  <a:srgbClr val="49505A"/>
                </a:solidFill>
                <a:latin typeface="Aptos"/>
              </a:defRPr>
            </a:pPr>
            <a:r>
              <a:t>An always-on-time baseline gets ~75.01% on this test set.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6793992"/>
            <a:ext cx="4663440" cy="265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200" b="1">
                <a:solidFill>
                  <a:srgbClr val="458FB8"/>
                </a:solidFill>
                <a:latin typeface="Aptos"/>
              </a:defRPr>
            </a:pPr>
            <a:r>
              <a:t>PRECISION: ALERT QUALITY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7150608"/>
            <a:ext cx="4663440" cy="521207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2800" b="1">
                <a:solidFill>
                  <a:srgbClr val="458FB8"/>
                </a:solidFill>
                <a:latin typeface="Aptos"/>
              </a:defRPr>
            </a:pPr>
            <a:r>
              <a:t>40.08%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7754112"/>
            <a:ext cx="4663440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400" b="0">
                <a:solidFill>
                  <a:srgbClr val="49505A"/>
                </a:solidFill>
                <a:latin typeface="Aptos"/>
              </a:defRPr>
            </a:pPr>
            <a:r>
              <a:t>About 40 in 100 predicted delay alerts are correct.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35640" y="6793992"/>
            <a:ext cx="4617720" cy="265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200" b="1">
                <a:solidFill>
                  <a:srgbClr val="DD7E31"/>
                </a:solidFill>
                <a:latin typeface="Aptos"/>
              </a:defRPr>
            </a:pPr>
            <a:r>
              <a:t>RECALL: MISSED DELAYS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35640" y="7150608"/>
            <a:ext cx="4617720" cy="521207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2800" b="1">
                <a:solidFill>
                  <a:srgbClr val="DD7E31"/>
                </a:solidFill>
                <a:latin typeface="Aptos"/>
              </a:defRPr>
            </a:pPr>
            <a:r>
              <a:t>12.15%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35640" y="7754112"/>
            <a:ext cx="4617720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400" b="0">
                <a:solidFill>
                  <a:srgbClr val="49505A"/>
                </a:solidFill>
                <a:latin typeface="Aptos"/>
              </a:defRPr>
            </a:pPr>
            <a:r>
              <a:t>Only about 12 in 100 actual delayed flights are caught.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8650224"/>
            <a:ext cx="14813280" cy="8890"/>
          </a:xfrm>
          <a:prstGeom prst="rect">
            <a:avLst/>
          </a:prstGeom>
          <a:solidFill>
            <a:srgbClr val="0F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8778240"/>
            <a:ext cx="1463040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defRPr sz="1300" b="1">
                <a:solidFill>
                  <a:srgbClr val="0F2344"/>
                </a:solidFill>
                <a:latin typeface="Aptos"/>
              </a:defRPr>
            </a:pPr>
            <a:r>
              <a:t>CONCLUSION  ·  XGBoost ranks delay risk modestly better, but low recall limits operational usefulness.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